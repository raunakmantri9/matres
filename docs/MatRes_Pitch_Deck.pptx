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Google for Startups AI Agents Challenge  ·  Track 1: Build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</a:rPr>
              <a:t>MatRes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31720"/>
            <a:ext cx="365760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285F4"/>
                </a:solidFill>
              </a:rPr>
              <a:t>Materials Resilience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</a:rPr>
              <a:t>Supply risk analysis for EV battery engineering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</a:rPr>
              <a:t>From BOM upload to full risk report — under 90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7772400" cy="77724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</a:rPr>
              <a:t>🌐  Live demo: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19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</a:rPr>
              <a:t>https://matres-705351137331.us-central1.run.app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914400"/>
            <a:ext cx="2743200" cy="50292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16459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FFFFFF"/>
                </a:solidFill>
              </a:rPr>
              <a:t>⚗️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99"/>
                </a:solidFill>
              </a:rPr>
              <a:t>AI · ADK · Gemini 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99"/>
                </a:solidFill>
              </a:rPr>
              <a:t>Cloud Run · MCP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One material disruption can cost $1.9 billion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4572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0515600" cy="8686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🔴  GM Bolt Recall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79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141,667 vehicles · $1.9B cost · Lithium battery thermal runaway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0515600" cy="8686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🔴  China Graphite Export Ban — Dec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638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77% of global supply disrupted overnight · No advance warning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0515600" cy="8686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22191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🔴  DRC Cobalt 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9663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73% of world supply · FEOC non-compliant under US IRA 2022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83480"/>
            <a:ext cx="10515600" cy="64008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C04"/>
                </a:solidFill>
              </a:rPr>
              <a:t>⏱   Engineers spend 3–6 weeks doing this analysis manually. Every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Upload a BOM. Get a risk report in 90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1148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651760" cy="347472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2651760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285F4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Supply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Which materials are geopolitically concentrated
HHI score + FEOC flag per 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2651760" cy="347472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600200"/>
            <a:ext cx="2651760" cy="10972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4335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Failure 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34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What failures those materials caused in real vehicles
Real NHTSA recalls, severity 1–5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600200"/>
            <a:ext cx="2651760" cy="347472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00200"/>
            <a:ext cx="2651760" cy="1097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A853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Substitutions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834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3 ranked alternatives with full property delta
Energy density, cycle life, cost, CO₂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600200"/>
            <a:ext cx="2651760" cy="347472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600200"/>
            <a:ext cx="2651760" cy="10972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19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BC04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Qualification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2834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Standards, timeline in weeks, cost band in USD
UN 38.3 · IEC 62660 · UL 2580 · ISO 26262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99"/>
                </a:solidFill>
              </a:rPr>
              <a:t>Every number in the output has a source citation. No uncited claims reach the UI.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Built entirely on Google's AI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2004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09728" cy="685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Gemini 2.5 Pro (Vertex 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Executive summary generation + reasoning over multi-source BOM data.
All calls IAM-controlled — no direct API key in production.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109728" cy="685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060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Google Agent Development Kit (ADK)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535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Orchestrates 4 sub-agents with typed inputs, outputs, and FunctionTool calls.
Root agent aggregates outputs into a single RiskReport.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109728" cy="6858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118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Model Context Protocol (MCP)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593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USGS MCS 2025 and Materials Project data wrapped as standalone MCP servers.
Agent queries them via tool calls — no hardcoded data access.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109728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617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Cloud Run + Secret Manager + Cloud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96519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Fully serverless, GCP us-central1. API keys in Secret Manager — zero
hardcoded credentials in the container image or git history.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0515600" cy="50292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8338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</a:rPr>
              <a:t>💡  Gemini 2.5 Pro routes through Vertex AI — auditable, billed to GCP project, IAM-controlled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</a:rPr>
              <a:t>4 ADK sub-agents · MCP servers · Hallucination guard · Cloud Run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</a:rPr>
              <a:t>LIVE DEMO — SCENARIO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NMC 811 Battery Pack — what MatRes finds in 14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4572000" cy="5486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50292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34747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SUPPLY RISK IDENTIFIED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🔴  Cobalt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5856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HHI 5,535 · DRC 73% · FEOC 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243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🔴  Graphite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169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HHI 6,058 · China 77% · Export ban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826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🔴  Nickel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75303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HHI 3,576 · Indonesia 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4106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🔴  Lithium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336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HHI 3,142 · Australia 47%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5669280" cy="50292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5669280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179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TOP SUBSTITUTION 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</a:rPr>
              <a:t>#1  LFP (LiFePO₄)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23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Composite score: 67 /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Supply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</a:rPr>
              <a:t>10 /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9260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(vs 70+ for cobalt)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429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Energy delta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290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4"/>
                </a:solidFill>
              </a:rPr>
              <a:t>−42%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4290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trade-off vs NMC 811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Qualification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CCCC"/>
                </a:solidFill>
              </a:rPr>
              <a:t>80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9319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~19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34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Cost band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434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CCCC"/>
                </a:solidFill>
              </a:rPr>
              <a:t>$925k–$1.85M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4348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full certification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6126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</a:rPr>
              <a:t>Source: USGS MCS 2025 · NREL Battery Report 2023 · IEC 62660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</a:rPr>
              <a:t>HALLUCINATION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Every number is cited.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2004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Engineers cannot act on uncited AI output — legal and regulatory exposure.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303520" cy="41148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5852160" cy="411480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4335"/>
                </a:solidFill>
              </a:rPr>
              <a:t>❌  Without MatRes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</a:rPr>
              <a:t>✅  With MatRes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30352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606040"/>
            <a:ext cx="585216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0" y="2606040"/>
            <a:ext cx="22860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15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"Cobalt is risky"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697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A853"/>
                </a:solidFill>
              </a:rPr>
              <a:t>"Cobalt HHI: 5,535  ·  Source: USGS MCS 2025"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55848"/>
            <a:ext cx="530352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355848"/>
            <a:ext cx="585216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3355848"/>
            <a:ext cx="22860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655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"LFP is safer"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44728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A853"/>
                </a:solidFill>
              </a:rPr>
              <a:t>"LFP supply risk: 10/100  ·  Source: NREL 2023"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05656"/>
            <a:ext cx="530352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4105656"/>
            <a:ext cx="585216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4105656"/>
            <a:ext cx="22860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153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"Qualification takes months"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19709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A853"/>
                </a:solidFill>
              </a:rPr>
              <a:t>"80 weeks · $925k–$1.85M  ·  Source: UN 38.3, IEC 62660"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55464"/>
            <a:ext cx="530352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855464"/>
            <a:ext cx="585216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0" y="4855464"/>
            <a:ext cx="228600" cy="64008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65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"China dominates graphite"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94690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A853"/>
                </a:solidFill>
              </a:rPr>
              <a:t>"China: 77% share · HHI 6,058  ·  Source: USGS MCS 2025"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760720"/>
            <a:ext cx="11430000" cy="502920"/>
          </a:xfrm>
          <a:prstGeom prst="rect">
            <a:avLst/>
          </a:prstGeom>
          <a:solidFill>
            <a:srgbClr val="2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33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</a:rPr>
              <a:t>CitationError middleware rejects any numeric output without a source field — before it reaches the 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TRACK 1: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 genuinely new agent — not a wrapper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438912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636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</a:rPr>
              <a:t>What it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✗  Not a supply chain dashboard
(Interos, Resilinc operate at KPI level)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✗  Not a data lookup tool
(USGS, Materials Project have no agent layer)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✗  Not a general LLM query
(ChatGPT/Gemini give uncited estimates)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5669280" cy="438912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5669280" cy="347472"/>
          </a:xfrm>
          <a:prstGeom prst="rect">
            <a:avLst/>
          </a:prstGeom>
          <a:solidFill>
            <a:srgbClr val="0D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636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</a:rPr>
              <a:t>What makes it novel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✓  Connects geopolitical risk → failure data
→ substitution → qualification in one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✓  Hallucination guard enforces citations
for regulatory-grade engineering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023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✓  Deterministic sub-agents (FunctionTool)
Fast, auditable, no hallucination on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0292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✓  Composite scorer with tunable weights
Engineers adjust cost vs performance vs CO₂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Replacing 3 weeks of manual work with 90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45720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611880" cy="50292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11880" cy="34747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636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TARGET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Tier-1 EV battery suppliers
Panasonic · LG Energy · Samsung SDI · CATL
OEM procurement teams
GM · Ford · Tata · Ola Electric
Regulatory compliance teams
US IRA 2022 FEOC deadline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08760"/>
            <a:ext cx="3611880" cy="50292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611880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636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$4B supply chain risk software market
No agentic competitor at the
engineering-decision layer today
Existing tools operate at dashboard level —
not material-decision specific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611880" cy="50292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611880" cy="34747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636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POST-HACKATHON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6596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Expand beyond EV batteries:
· Semiconductor BOMs
· Pharmaceutical supply chains
· Aerospace materials
Enterprise SaaS or
API integration into ERP/PLM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TRY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now — test it yourself in 2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41148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77724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</a:rPr>
              <a:t>🌐   https://matres-705351137331.us-central1.run.app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3611880" cy="22860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285F4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8211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Download test BOM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Get bom_fixtures/nmc811.json from github.com/raunakmantri9/MatRes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514600"/>
            <a:ext cx="3611880" cy="22860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6334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285F4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18211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Upload in the sidebar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6118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Open the demo URL → use the sidebar file uploader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14600"/>
            <a:ext cx="3611880" cy="228600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6334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285F4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18211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See the full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6118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Cobalt flagged HIGH → LFP ranked #1 → 19-month qualification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29200"/>
            <a:ext cx="11430000" cy="502920"/>
          </a:xfrm>
          <a:prstGeom prst="rect">
            <a:avLst/>
          </a:prstGeom>
          <a:solidFill>
            <a:srgbClr val="15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1023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⌨️   github.com/raunakmantri9/MatRes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99"/>
                </a:solidFill>
              </a:rPr>
              <a:t>Built by Raunak Mantri  ·  Google for Startups AI Agents Challenge 2026  ·  Gemini 2.5 Pro · Google ADK · MCP · Cloud Run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